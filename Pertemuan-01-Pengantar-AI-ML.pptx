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3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0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1C"/>
                </a:solidFill>
                <a:latin typeface="Arial"/>
              </a:defRPr>
            </a:pPr>
            <a:r>
              <a:rPr lang="fi-FI" sz="1300" b="0" i="0" u="none" strike="noStrike">
                <a:solidFill>
                  <a:srgbClr val="1C1C1C"/>
                </a:solidFill>
                <a:latin typeface="Arial"/>
              </a:rPr>
              <a:t>Naik-turun minat pada AI (ilustrasi)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Perhatian dunia pada AI</c:v>
                </c:pt>
              </c:strCache>
            </c:strRef>
          </c:tx>
          <c:spPr>
            <a:ln w="38100" cap="flat">
              <a:solidFill>
                <a:srgbClr val="F7941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7941E"/>
              </a:solidFill>
              <a:ln w="9525" cap="flat">
                <a:solidFill>
                  <a:srgbClr val="F7941E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1956</c:v>
                </c:pt>
                <c:pt idx="1">
                  <c:v>1965</c:v>
                </c:pt>
                <c:pt idx="2">
                  <c:v>1974</c:v>
                </c:pt>
                <c:pt idx="3">
                  <c:v>1981</c:v>
                </c:pt>
                <c:pt idx="4">
                  <c:v>1987</c:v>
                </c:pt>
                <c:pt idx="5">
                  <c:v>1995</c:v>
                </c:pt>
                <c:pt idx="6">
                  <c:v>2005</c:v>
                </c:pt>
                <c:pt idx="7">
                  <c:v>2012</c:v>
                </c:pt>
                <c:pt idx="8">
                  <c:v>2020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</c:v>
                </c:pt>
                <c:pt idx="1">
                  <c:v>62</c:v>
                </c:pt>
                <c:pt idx="2">
                  <c:v>22</c:v>
                </c:pt>
                <c:pt idx="3">
                  <c:v>55</c:v>
                </c:pt>
                <c:pt idx="4">
                  <c:v>20</c:v>
                </c:pt>
                <c:pt idx="5">
                  <c:v>32</c:v>
                </c:pt>
                <c:pt idx="6">
                  <c:v>45</c:v>
                </c:pt>
                <c:pt idx="7">
                  <c:v>78</c:v>
                </c:pt>
                <c:pt idx="8">
                  <c:v>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91B-44E5-8153-CD244B3532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C1C1C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1C1C1C"/>
                </a:solidFill>
                <a:latin typeface="Arial"/>
              </a:rPr>
              <a:t>Kesalahan komputer mengenali gambar makin kecil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Tingkat kesalahan (%)</c:v>
                </c:pt>
              </c:strCache>
            </c:strRef>
          </c:tx>
          <c:spPr>
            <a:solidFill>
              <a:srgbClr val="F794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A5A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2011</c:v>
                </c:pt>
                <c:pt idx="2">
                  <c:v>2012
AlexNet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28.2</c:v>
                </c:pt>
                <c:pt idx="1">
                  <c:v>25.8</c:v>
                </c:pt>
                <c:pt idx="2">
                  <c:v>16.399999999999999</c:v>
                </c:pt>
                <c:pt idx="3">
                  <c:v>11.7</c:v>
                </c:pt>
                <c:pt idx="4">
                  <c:v>6.7</c:v>
                </c:pt>
                <c:pt idx="5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C4-4145-B690-B48A114DB6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1C1C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C1C1C"/>
                </a:solidFill>
                <a:latin typeface="Arial"/>
              </a:rPr>
              <a:t>Padahal keduanya tidak mengulangi kejahatan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Salah dicap “berisiko tinggi” (%)</c:v>
                </c:pt>
              </c:strCache>
            </c:strRef>
          </c:tx>
          <c:spPr>
            <a:solidFill>
              <a:srgbClr val="B3261E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06-4EB3-8F92-42131FF47AD3}"/>
              </c:ext>
            </c:extLst>
          </c:dPt>
          <c:dPt>
            <c:idx val="1"/>
            <c:invertIfNegative val="0"/>
            <c:bubble3D val="0"/>
            <c:spPr>
              <a:solidFill>
                <a:srgbClr val="E9A1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06-4EB3-8F92-42131FF47AD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C1C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Terdakwa kulit hitam</c:v>
                </c:pt>
                <c:pt idx="1">
                  <c:v>Terdakwa kulit putih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06-4EB3-8F92-42131FF47A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246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kelas dengan santai. Sampaikan bahwa hari ini belum ada matematika berat - tujuannya memahami gambaran besar: apa itu AI/ML, dari mana asalnya, dan kenapa kita perlu peduli soal etikanya.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Mulai dengan polling cepat: minta mahasiswa menyebut 3 aplikasi 'pintar' yang mereka pakai hari ini, baru tampilkan kartu-kartunya. Tujuannya: ML itu bukan barang futuristik, tapi sudah jadi bagian hidup sehari-hari.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Rujukan: Russell-Norvig (AIMA) Bab 1.1. Tekankan definisi 'bertindak rasional' dipakai karena bisa diukur dan tidak harus meniru manusia; Turing Test menarik secara sejarah tapi bukan target teknik saat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Cerita menarik: peneliti tahun 1960-an yakin mesin secerdas manusia akan hadir dalam 20 tahun - pelajaran tentang hype yang terus berulang sampai era AI sekarang (AIMA Bab 1.3).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Jalankan simulasi mini 2 menit: minta satu mahasiswa jadi 'kepala baca/tulis', tulis pita 4 kotak di papan, beri 2 aturan sederhana, dan biarkan kelas mengeksekusi bersama. Poin kuncinya: mesin ini tidak 'pintar' - ia hanya patuh aturan sederhana berulang-ulang; kecerdasan muncul dari susunan aturannya. Analogi penutup: resep masakan yang diikuti membabi buta. Tahun 1936 Turing membuktikan satu mesin seperti ini bisa meniru mesin lain apa pun asal diberi 'program' - itulah cetak biru komputer serbaguna, sebelum komputernya 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Kontraskan: expert system = ribuan aturan if-then ditulis tangan; ML = komputer menemukan aturannya sendiri dari contoh. Ini pergeseran konsep terpenting dalam sejarah bidang ini (Bishop Bab 1; Goodfellow Bab 1.2).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Goodfellow Bab 1.2: ide jaringan saraf sudah ada sejak 1940-an - yang baru adalah skala data dan komputasinya, bukan konsepnya. Ini melawan anggapan bahwa deep learning adalah penemuan mendadak.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Gambar diagram ini di papan dan uji: 'Sistem pakar diagnosis dengan 500 aturan - masuk mana?' (AI, bukan ML). Diagram serupa: Goodfellow Bab 1, Gambar 1.4.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2-3 mahasiswa mendefinisikan T/E/P untuk kasus lain (deteksi wajah, rekomendasi film). Kesalahan umum: mencampur T dengan P. Rujukan: Goodfellow Bab 5.1.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biaya tersembunyi: label itu mahal karena harus dibuat manusia (bayangkan dokter yang harus melabeli ribuan foto rontgen). Rujukan: Bishop Bab 1.1; Geron Bab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jelaskan cara kerja K-NN dulu (itu Pertemuan 4) - fokus ke BENTUK pipeline-nya: fit lalu score. Jalankan live di Google Colab supaya mahasiswa melihat angka akurasinya muncul sungguhan.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Lempar pertanyaan: 'kalau tidak ada kunci jawaban, bagaimana tahu hasilnya benar atau salah?' Biarkan menggantung - itu motivasi Pertemuan 6 dan 7. Rujukan: Bishop Bab 1.1; Geron Bab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Bedakan tegas dari supervised: tidak ada 'jawaban benar per langkah', hanya sinyal hadiah yang jarang dan telat (AIMA Bab 22; detail di Pertemuan 13). Analogi melatih anjing dengan camilan biasanya paling nempel.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adalah peta 16 pertemuan ke depan - tunjukkan pertemuan berapa membahas apa supaya mahasiswa tahu arah kuliah. Kuis kilat lewat angkat tangan menjaga energi kelas.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Geron Bab 2 memakai proyek harga rumah California untuk seluruh pipeline ini - sebut sebagai bacaan lanjutan. Tekankan realita industri: model hanyalah komponen kecil dari sistem ML produksi. Otomasi siklus ini dibahas di Pertemuan 14 (MLOps).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notasi pelan-pelan dalam bahasa lisan ('theta itu kenop yang diputar-putar sampai kesalahannya paling kecil'). Kerangka minimisasi loss diformalkan di Goodfellow Bab 5.1-5.2 dan jadi tulang punggung Pertemuan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paling efektif: murid yang menghafal soal tahun lalu vs yang paham konsep - ujiannya pasti soal baru. Formalnya: Goodfellow Bab 5.2, Bishop Bab 1.3; dibahas dalam di Pertemuan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Jalankan live dan tunjukkan selisih nilai latihan vs ujian - bukti empiris overfitting pertama yang mereka lihat sendiri. random_state membuat hasil bisa direproduksi; kebocoran data dibahas tuntas di Pertemuan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Kasus tool rekrutmen Amazon (dihentikan 2018) cocok dibahas 3 menit. AIMA Bab 27 membahas fairness formal. Tekankan: menghapus kolom sensitif TIDAK cukup karena ada variabel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Angkat konteks Indonesia: UU PDP No. 27/2022 mengatur pemrosesan data pribadi - relevan langsung untuk calon praktisi lokal. Diskusi tanggung jawab sengaja dibiarkan terbuka, tidak ada jawaban tunggal (AIMA Bab 27).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Tidak perlu hafal pasal - tujuannya menunjukkan bahwa regulasi nyata sudah mengikat pekerjaan ML engineer. Kaitkan dengan Tugas B (audit bias sederhana).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terbaik bahwa 'fairness' punya beberapa definisi matematis yang saling bertentangan (hasil ketakmungkinan Kleinberg dkk. 2016). Diskusi 5 menit: kalau kalian hakimnya, definisi adil mana yang dipakai?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Bingkai eksplisit dengan template T/E/P dari slide 8 agar konsisten. Pastikan semua mahasiswa bisa membuka Colab sebelum lanjut - sekalian cek kesiapan Tugas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inti demo live 10 menit: jalankan sel per sel, jangan tampilkan sekaligus. Belum perlu matematika logistic regression (Pertemuan 3) - fokus ke alur dan cara membaca output classification_report.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Demo-kan langsung prediksi input ngawur ini - biasanya jadi momen 'aha' tentang batas ML. Menanamkan skeptisisme sehat sejak pertemuan pertama; deteksi out-of-distribution dan kalibrasi disinggung di Pertemuan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Nanti dari Pertemuan 8 ditambah TensorFlow/Keras &amp; PyTorch. Geron Bab 1-2 adalah panduan setup terbaik untuk pemula; bagikan link template Colab kelas setelah kuliah.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kembali ke pertanyaan pembuka slide 2 - sekarang mahasiswa bisa menjawabnya dengan kosakata teknis. Teaser konkret P2 penting supaya mereka datang lagi dengan rasa penasaran.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contoh struktur notebook yang baik (judul, sel markdown penjelasan, kode bersih) - standar ini dipakai sampai Pertemuan 16. Ingatkan: menyalin tanpa paham akan ketahuan di kuis awal P2.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Tegaskan: ini analisis data + argumen, BUKAN esai opini - setiap klaim wajib didukung angka dari notebook. Kaitkan ke COMPAS: mereka melakukan audit versi sederhana seperti jurnalis ProPublica.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 waktu 15 menit. Keliling kelas; error paling umum: salah indentasi dan lupa menjalankan sel import lebih dulu. Dataset wine dipilih supaya hasilnya beda dari demo iris - akurasinya lebih rendah (sekitar 0.74), bahan diskusi kenapa.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1-2 bisa selesai di kelas; Level 3 boleh dibawa pulang dan digabungkan ke Tugas A. Level 2 adalah pintu masuk konsep hyperparameter (dibahas formal di Pertemuan 7); jangan sebut istilahnya dulu, cukup biarkan mereka merasakan efeknya.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mem-bookmark slide ini - dipakai terus sampai Pertemuan 16. Untuk minggu ini cukup dataset bawaan sklearn (tanpa download) + Adult Income dari UCI untuk Tugas B. Titanic di Kaggle bagus untuk latihan mandiri karena tutorialnya sangat banyak.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dua dari empat buku bisa diakses gratis dan legal (Goodfellow di deeplearningbook.org, Bishop di Microsoft Research) - hilangkan alasan 'tidak punya buku'. Sitasi mengikuti format APA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Ajak mahasiswa membiasakan sitasi sejak tugas pertama: notebook Tugas A/B wajib mencantumkan sumber dataset, dan laporan Tugas B wajib mengutip minimal referensi [7] dan [8] saat membahas fairness.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201168"/>
            <a:ext cx="613812" cy="804672"/>
          </a:xfrm>
          <a:prstGeom prst="roundRect">
            <a:avLst>
              <a:gd name="adj" fmla="val 10428"/>
            </a:avLst>
          </a:prstGeom>
          <a:solidFill>
            <a:srgbClr val="FFFFFF"/>
          </a:solidFill>
          <a:ln/>
        </p:spPr>
      </p:sp>
      <p:pic>
        <p:nvPicPr>
          <p:cNvPr id="3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1234440"/>
            <a:ext cx="2377440" cy="32918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logo-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1481328"/>
            <a:ext cx="1691640" cy="25844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74904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 KULIAH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749040" y="20116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3749040" y="2971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Pertemuan 1 — Pengantar AI &amp; ML: Sejarah, Paradigma, dan Etika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749040" y="3794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 Pariwisata Trisakti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Durasi 150 menit · kuliah interaktif + demo langsung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PEMBUKA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di Sekitarmu Sudah Bisa “Belajar”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17320" y="2011680"/>
            <a:ext cx="868680" cy="868680"/>
          </a:xfrm>
          <a:prstGeom prst="ellipse">
            <a:avLst/>
          </a:prstGeom>
          <a:solidFill>
            <a:srgbClr val="F7941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88" y="2212848"/>
            <a:ext cx="466344" cy="4663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spam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40156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sampah tersaring sendiri, tanpa ada yang menulis daftar aturannya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64992" y="173736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33672" y="2011680"/>
            <a:ext cx="868680" cy="868680"/>
          </a:xfrm>
          <a:prstGeom prst="ellipse">
            <a:avLst/>
          </a:prstGeom>
          <a:solidFill>
            <a:srgbClr val="F7941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212848"/>
            <a:ext cx="466344" cy="4663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47872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547872" y="340156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menebak waktu tempuh dari data jutaan pengguna jalan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181344" y="173736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050024" y="2011680"/>
            <a:ext cx="868680" cy="868680"/>
          </a:xfrm>
          <a:prstGeom prst="ellipse">
            <a:avLst/>
          </a:prstGeom>
          <a:solidFill>
            <a:srgbClr val="F7941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2212848"/>
            <a:ext cx="466344" cy="4663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64224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 video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364224" y="340156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YouTube/TikTok “hafal” seleramu dari riwayat tontonan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997696" y="173736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866376" y="2011680"/>
            <a:ext cx="868680" cy="868680"/>
          </a:xfrm>
          <a:prstGeom prst="ellipse">
            <a:avLst/>
          </a:prstGeom>
          <a:solidFill>
            <a:srgbClr val="F7941E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544" y="2212848"/>
            <a:ext cx="466344" cy="4663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180576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unlock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9180576" y="340156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mengenali wajahmu, padahal wajah orang beda-beda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48640" y="470916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68680" y="4846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hari ini:  </a:t>
            </a:r>
            <a:r>
              <a:rPr lang="en-US" sz="17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 bisa mesin melakukan semua itu, padahal tidak ada programmer yang menulis aturannya satu per satu?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INTI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Kecerdasan Buatan (AI)?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= membuat mesin bisa melakukan hal yang biasanya butuh kecerdasan manusia.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ahli membaginya lewat 2 pertanyaan: mesinnya BERPIKIR atau BERTINDAK? Meniru MANUSIA atau berusaha PALING MASUK AKAL (rasional)?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Gabungan keduanya menghasilkan 4 cara pandang (matriks di kanan).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Definisi yang dipakai dunia riset sekarang: “bertindak rasional” — mesin memilih tindakan terbaik untuk mencapai tujuannya.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26480" y="178308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20116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Berpikir seperti manusia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meniru cara otak bekerja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942832" y="178308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25712" y="20116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Berpikir rasional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yang runtut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3639312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3867912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Bertindak seperti manusia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Turing Test: bisakah menyamar jadi manusia?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942832" y="3639312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7941E"/>
          </a:solidFill>
          <a:ln w="12700">
            <a:solidFill>
              <a:srgbClr val="F7941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25712" y="3867912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Bertindak rasional ★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aksi terbaik — definisi modern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5495544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meniru manusia          berusaha rasional →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SEJARAH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Awal Mula AI (1950–1980): Zaman Penuh Optimisme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3063240"/>
            <a:ext cx="10241280" cy="0"/>
          </a:xfrm>
          <a:prstGeom prst="line">
            <a:avLst/>
          </a:prstGeom>
          <a:noFill/>
          <a:ln w="38100">
            <a:solidFill>
              <a:srgbClr val="E3E3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2916936"/>
            <a:ext cx="310896" cy="310896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9" name="Shape 6"/>
          <p:cNvSpPr/>
          <p:nvPr/>
        </p:nvSpPr>
        <p:spPr>
          <a:xfrm>
            <a:off x="1371600" y="3520440"/>
            <a:ext cx="2926080" cy="1737360"/>
          </a:xfrm>
          <a:prstGeom prst="roundRect">
            <a:avLst>
              <a:gd name="adj" fmla="val 473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36576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  </a:t>
            </a: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Turing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“Bisakah mesin berpikir?” — lahirnya imitation game (Turing Test)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06440" y="2916936"/>
            <a:ext cx="310896" cy="310896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2" name="Shape 9"/>
          <p:cNvSpPr/>
          <p:nvPr/>
        </p:nvSpPr>
        <p:spPr>
          <a:xfrm>
            <a:off x="4937760" y="3520440"/>
            <a:ext cx="2926080" cy="1737360"/>
          </a:xfrm>
          <a:prstGeom prst="roundRect">
            <a:avLst>
              <a:gd name="adj" fmla="val 473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20640" y="36576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  </a:t>
            </a: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 Workshop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“Artificial Intelligence” resmi lahir (John McCarthy dkk.)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372600" y="2916936"/>
            <a:ext cx="310896" cy="310896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5" name="Shape 12"/>
          <p:cNvSpPr/>
          <p:nvPr/>
        </p:nvSpPr>
        <p:spPr>
          <a:xfrm>
            <a:off x="8503920" y="3520440"/>
            <a:ext cx="2926080" cy="1737360"/>
          </a:xfrm>
          <a:prstGeom prst="roundRect">
            <a:avLst>
              <a:gd name="adj" fmla="val 473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0" y="36576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1960–70an  </a:t>
            </a: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Kecerdasan = ribuan aturan “jika… maka…” yang ditulis manusia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55778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sejarah: </a:t>
            </a: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berhasil di “dunia kecil” (main catur sederhana, soal logika), tapi gagal menghadapi dunia nyata yang berantakan.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SEJARAH · ZOOM-IN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Turing: Ide Sederhana di Balik Semua Komputer</a:t>
            </a:r>
            <a:endParaRPr lang="en-US" sz="3000" dirty="0"/>
          </a:p>
        </p:txBody>
      </p:sp>
      <p:pic>
        <p:nvPicPr>
          <p:cNvPr id="7" name="Image 1" descr="turing-mach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384" y="1481328"/>
            <a:ext cx="8321040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989320"/>
            <a:ext cx="11091672" cy="457200"/>
          </a:xfrm>
          <a:prstGeom prst="roundRect">
            <a:avLst>
              <a:gd name="adj" fmla="val 18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6016752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Fakta keren: </a:t>
            </a: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HP-mu, laptopmu, bahkan superkomputer — secara matematis semuanya adalah Mesin Turing universal yang sama.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SEJARAH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“Musim Dingin AI” &amp; Bangkitnya Machine Learning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Janji terlalu besar, hasil tak sampai → dana riset dipangkas dua kali (±1974 dan ±1987). Ini disebut AI Winter.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Pelajaran pentingnya: menulis aturan satu per satu itu tidak sanggup mengejar rumitnya dunia nyata.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baru (1990–2000an): biarkan komputer MENEMUKAN polanya sendiri dari data → inilah Machine Learning.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Bahan bakarnya: data digital melimpah + komputer makin murah.</a:t>
            </a:r>
            <a:endParaRPr lang="en-US" sz="14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035040" y="1783080"/>
          <a:ext cx="55778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035040" y="5806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“lembah” = AI Winter (1974 &amp; 1987)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SEJARAH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Deep Learning (2012–Sekarang)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0195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2240280" y="18745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 juara lomba </a:t>
            </a: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mengenali gambar </a:t>
            </a: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(ImageNet) — lompatan </a:t>
            </a:r>
            <a:r>
              <a:rPr lang="en-US" sz="1250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besar</a:t>
            </a: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pertama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31927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2240280" y="32918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AlphaGo mengalahkan juara dunia Go, permainan yang dianggap “mustahil” </a:t>
            </a:r>
            <a:r>
              <a:rPr lang="en-US" sz="1250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</a:t>
            </a: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</a:t>
            </a: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50" b="1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</a:t>
            </a: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mengambil</a:t>
            </a: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</a:t>
            </a:r>
            <a:endParaRPr lang="en-US" sz="1250" b="1" dirty="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3659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2020+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47091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ChatGPT, Gemini, Claude — model raksasa yang bisa menulis dan </a:t>
            </a:r>
            <a:r>
              <a:rPr lang="en-US" sz="1250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bercakap</a:t>
            </a: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50" b="1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memahami</a:t>
            </a: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</a:t>
            </a: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</a:t>
            </a:r>
            <a:endParaRPr lang="en-US" sz="1250" b="1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035040" y="1783080"/>
          <a:ext cx="55778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035040" y="5806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Resepnya: data raksasa + chip GPU + jaringan saraf berlapis (deep)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INTI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Wilayah: AI ⊃ ML ⊃ Deep Learning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= payung besarnya: semua cara membuat mesin bertindak cerdas.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= bagian dari AI: mesin yang makin pintar karena belajar dari data.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= bagian dari ML: belajar memakai jaringan saraf berlapis-lapis.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Artinya: ada AI yang bukan ML (catur berbasis aturan), dan ada ML yang bukan DL (random forest).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26480" y="1600200"/>
            <a:ext cx="5486400" cy="4480560"/>
          </a:xfrm>
          <a:prstGeom prst="ellipse">
            <a:avLst/>
          </a:prstGeom>
          <a:solidFill>
            <a:srgbClr val="FBE6C9"/>
          </a:solidFill>
          <a:ln/>
        </p:spPr>
      </p:sp>
      <p:sp>
        <p:nvSpPr>
          <p:cNvPr id="9" name="Shape 6"/>
          <p:cNvSpPr/>
          <p:nvPr/>
        </p:nvSpPr>
        <p:spPr>
          <a:xfrm>
            <a:off x="6903720" y="2331720"/>
            <a:ext cx="3931920" cy="3291840"/>
          </a:xfrm>
          <a:prstGeom prst="ellipse">
            <a:avLst/>
          </a:prstGeom>
          <a:solidFill>
            <a:srgbClr val="F8C57F"/>
          </a:solidFill>
          <a:ln/>
        </p:spPr>
      </p:sp>
      <p:sp>
        <p:nvSpPr>
          <p:cNvPr id="10" name="Shape 7"/>
          <p:cNvSpPr/>
          <p:nvPr/>
        </p:nvSpPr>
        <p:spPr>
          <a:xfrm>
            <a:off x="7635240" y="3017520"/>
            <a:ext cx="2468880" cy="219456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264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A5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— mis. program catur berbasis aturan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4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— mis. random forest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429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mis. ChatGPT,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unlock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INTI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Mesin Disebut “Belajar”? Rumus T–E–P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459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Definisi Tom Mitchell (disederhanakan): </a:t>
            </a:r>
            <a:r>
              <a:rPr lang="en-US" sz="15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dikatakan belajar jika NILAINYA (P) pada suatu TUGAS (T) makin bagus seiring bertambahnya PENGALAMAN (E) — persis seperti murid yang makin sering latihan soal, makin tinggi nilai ujiannya.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3017520"/>
            <a:ext cx="777240" cy="77724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303580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dikerjakan?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069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memilah email spam vs bukan spam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25112" y="2743200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99432" y="3017520"/>
            <a:ext cx="777240" cy="77724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99432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559552" y="303580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dari apa?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599432" y="4069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ribuan email lama yang sudah diberi label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101584" y="2743200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75904" y="3017520"/>
            <a:ext cx="777240" cy="77724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375904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9336024" y="303580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Penilaian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Diukur pakai apa?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375904" y="4069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berapa % tebakannya benar (akurasi)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" y="55778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kilat: </a:t>
            </a:r>
            <a:r>
              <a:rPr lang="en-US" sz="14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definisikan T, E, dan P untuk “menebak harga rumah”!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4908C-87B3-2733-CE1C-CBDC714F5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56" y="1655244"/>
            <a:ext cx="3330229" cy="1867062"/>
          </a:xfrm>
          <a:prstGeom prst="rect">
            <a:avLst/>
          </a:prstGeom>
        </p:spPr>
      </p:pic>
      <p:pic>
        <p:nvPicPr>
          <p:cNvPr id="4" name="Image 0" descr="logo-small.png">
            <a:extLst>
              <a:ext uri="{FF2B5EF4-FFF2-40B4-BE49-F238E27FC236}">
                <a16:creationId xmlns:a16="http://schemas.microsoft.com/office/drawing/2014/main" id="{2D7EC5CC-05C7-6400-F3A1-EB5897919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70A0A4A-CEE1-AEEA-9E09-71A8B4B8A3C3}"/>
              </a:ext>
            </a:extLst>
          </p:cNvPr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cs typeface="Arial" pitchFamily="34" charset="-120"/>
              </a:rPr>
              <a:t>Latihan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C72616B-E0B1-8CF0-195A-082C007AF20A}"/>
              </a:ext>
            </a:extLst>
          </p:cNvPr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Simulasi</a:t>
            </a: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“Belajar”? Rumus T–E–P</a:t>
            </a:r>
            <a:endParaRPr lang="en-US" sz="3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43AD2A-9978-5C46-08EB-EA87B7CF4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966" y="1653386"/>
            <a:ext cx="3368332" cy="177561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8BB86D6-C244-584F-D242-925B1CAD1235}"/>
              </a:ext>
            </a:extLst>
          </p:cNvPr>
          <p:cNvSpPr/>
          <p:nvPr/>
        </p:nvSpPr>
        <p:spPr>
          <a:xfrm>
            <a:off x="3585665" y="2453951"/>
            <a:ext cx="308321" cy="205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40AD0E-F2D4-18F6-AD88-FF785DE3E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334" y="2130219"/>
            <a:ext cx="3414056" cy="815411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8085BF5D-945E-9AD4-65A3-9B95BE58AB2B}"/>
              </a:ext>
            </a:extLst>
          </p:cNvPr>
          <p:cNvSpPr/>
          <p:nvPr/>
        </p:nvSpPr>
        <p:spPr>
          <a:xfrm>
            <a:off x="7413502" y="2435289"/>
            <a:ext cx="308321" cy="205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E85348-456A-29E3-2924-128060A9AE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71" y="3792044"/>
            <a:ext cx="3391194" cy="25148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12AA9DC-229F-7DA0-D64D-38B47CCD163B}"/>
              </a:ext>
            </a:extLst>
          </p:cNvPr>
          <p:cNvSpPr txBox="1"/>
          <p:nvPr/>
        </p:nvSpPr>
        <p:spPr>
          <a:xfrm>
            <a:off x="6225648" y="1285912"/>
            <a:ext cx="1295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</a:t>
            </a:r>
            <a:r>
              <a:rPr lang="en-US" dirty="0" err="1"/>
              <a:t>nyari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2654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CARA MESIN BELAJAR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#1 — Supervised: Belajar dengan Kunci Jawaban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diberi banyak contoh soal LENGKAP DENGAN JAWABANNYA (label).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Seperti belajar dari buku soal yang ada kunci jawabannya di halaman belakang.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jenis soal: KLASIFIKASI (jawaban berupa pilihan: spam/bukan) dan REGRESI (jawaban berupa angka: harga rumah).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Paling banyak dipakai di industri saat ini.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09360" y="1737360"/>
            <a:ext cx="5120640" cy="896112"/>
          </a:xfrm>
          <a:prstGeom prst="roundRect">
            <a:avLst>
              <a:gd name="adj" fmla="val 918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184708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+ jawaban  </a:t>
            </a: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1.000 email berlabel “spam/bukan”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41080" y="2587752"/>
            <a:ext cx="457200" cy="292608"/>
          </a:xfrm>
          <a:prstGeom prst="downArrow">
            <a:avLst/>
          </a:prstGeom>
          <a:solidFill>
            <a:srgbClr val="CFCFCF"/>
          </a:solidFill>
          <a:ln/>
        </p:spPr>
      </p:sp>
      <p:sp>
        <p:nvSpPr>
          <p:cNvPr id="11" name="Shape 8"/>
          <p:cNvSpPr/>
          <p:nvPr/>
        </p:nvSpPr>
        <p:spPr>
          <a:xfrm>
            <a:off x="6309360" y="2816352"/>
            <a:ext cx="5120640" cy="896112"/>
          </a:xfrm>
          <a:prstGeom prst="roundRect">
            <a:avLst>
              <a:gd name="adj" fmla="val 918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2926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belajar  </a:t>
            </a: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mesin mencari pola dari contoh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41080" y="3666744"/>
            <a:ext cx="457200" cy="292608"/>
          </a:xfrm>
          <a:prstGeom prst="downArrow">
            <a:avLst/>
          </a:prstGeom>
          <a:solidFill>
            <a:srgbClr val="CFCFCF"/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0" y="3895344"/>
            <a:ext cx="5120640" cy="896112"/>
          </a:xfrm>
          <a:prstGeom prst="roundRect">
            <a:avLst>
              <a:gd name="adj" fmla="val 918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400507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jadi  </a:t>
            </a: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“otak” hasil belajar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41080" y="4745736"/>
            <a:ext cx="457200" cy="292608"/>
          </a:xfrm>
          <a:prstGeom prst="downArrow">
            <a:avLst/>
          </a:prstGeom>
          <a:solidFill>
            <a:srgbClr val="CFCFCF"/>
          </a:solidFill>
          <a:ln/>
        </p:spPr>
      </p:sp>
      <p:sp>
        <p:nvSpPr>
          <p:cNvPr id="17" name="Shape 14"/>
          <p:cNvSpPr/>
          <p:nvPr/>
        </p:nvSpPr>
        <p:spPr>
          <a:xfrm>
            <a:off x="6309360" y="4974336"/>
            <a:ext cx="5120640" cy="896112"/>
          </a:xfrm>
          <a:prstGeom prst="roundRect">
            <a:avLst>
              <a:gd name="adj" fmla="val 9184"/>
            </a:avLst>
          </a:prstGeom>
          <a:solidFill>
            <a:srgbClr val="F7941E"/>
          </a:solidFill>
          <a:ln w="12700">
            <a:solidFill>
              <a:srgbClr val="F7941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508406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Dipakai menebak  </a:t>
            </a:r>
            <a:r>
              <a:rPr lang="en-US" sz="1200" dirty="0">
                <a:solidFill>
                  <a:srgbClr val="FFF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email BARU masuk → spam?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KODENYA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#1 — Supervised Learning dalam 8 Baris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6949440" cy="3108960"/>
          </a:xfrm>
          <a:prstGeom prst="roundRect">
            <a:avLst>
              <a:gd name="adj" fmla="val 2647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74520"/>
            <a:ext cx="6492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load_iris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load_iris(return_X_y=True)      # E: 150 bunga + labelnya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X_te, y_tr, y_te = train_test_split(X, y, test_size=0.3)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KNeighborsClassifier(n_neighbors=3)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model.fit(X_tr, y_tr)          # T: belajar menebak spesies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C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print(model.score(X_te, y_te))         # P: akurasi -&gt; 0.98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26680" y="1737360"/>
            <a:ext cx="3913632" cy="896112"/>
          </a:xfrm>
          <a:prstGeom prst="roundRect">
            <a:avLst>
              <a:gd name="adj" fmla="val 918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0956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Pengalaman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bunga iris yang sudah diberi label spesiesnya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26680" y="2798064"/>
            <a:ext cx="3913632" cy="896112"/>
          </a:xfrm>
          <a:prstGeom prst="roundRect">
            <a:avLst>
              <a:gd name="adj" fmla="val 918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09560" y="288950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Tugas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menebak spesies bunga dari 4 ukuran kelopaknya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3858768"/>
            <a:ext cx="3913632" cy="896112"/>
          </a:xfrm>
          <a:prstGeom prst="roundRect">
            <a:avLst>
              <a:gd name="adj" fmla="val 918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39502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Penilaian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tebakan benar pada data yang belum pernah dilihat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Perhatikan: </a:t>
            </a:r>
            <a:r>
              <a:rPr lang="en-US" sz="14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satu pun aturan “jika kelopak &gt; 2 cm maka…” yang kita tulis. Mesin menemukan polanya sendiri dari contoh — itulah inti machine learning.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CARA MESIN BELAJAR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#2 — Unsupervised: Belajar Tanpa Kunci Jawaban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hanya diberi data, TANPA jawaban benar sama sekali.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Tugasnya: menemukan sendiri kelompok atau pola tersembunyi.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Seperti disuruh menyortir setumpuk foto tanpa diberi tahu kategorinya — kamu tetap bisa mengelompokkan: “ini foto pantai, ini foto makanan…”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nyata: mengelompokkan pelanggan toko online, mendeteksi transaksi kartu yang “aneh” (fraud).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09360" y="173736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yang sama, sesudah dikelompokkan mesin: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0" y="3108960"/>
            <a:ext cx="201168" cy="201168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120" y="3291840"/>
            <a:ext cx="201168" cy="201168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2" name="Shape 9"/>
          <p:cNvSpPr/>
          <p:nvPr/>
        </p:nvSpPr>
        <p:spPr>
          <a:xfrm>
            <a:off x="7223760" y="3337560"/>
            <a:ext cx="201168" cy="201168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3" name="Shape 10"/>
          <p:cNvSpPr/>
          <p:nvPr/>
        </p:nvSpPr>
        <p:spPr>
          <a:xfrm>
            <a:off x="7635240" y="2788920"/>
            <a:ext cx="201168" cy="201168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0" y="2880360"/>
            <a:ext cx="201168" cy="201168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63840" y="2971800"/>
            <a:ext cx="201168" cy="201168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9966960" y="2834640"/>
            <a:ext cx="201168" cy="201168"/>
          </a:xfrm>
          <a:prstGeom prst="ellipse">
            <a:avLst/>
          </a:prstGeom>
          <a:solidFill>
            <a:srgbClr val="5A8FBF"/>
          </a:solidFill>
          <a:ln/>
        </p:spPr>
      </p:sp>
      <p:sp>
        <p:nvSpPr>
          <p:cNvPr id="17" name="Shape 14"/>
          <p:cNvSpPr/>
          <p:nvPr/>
        </p:nvSpPr>
        <p:spPr>
          <a:xfrm>
            <a:off x="10241280" y="3108960"/>
            <a:ext cx="201168" cy="201168"/>
          </a:xfrm>
          <a:prstGeom prst="ellipse">
            <a:avLst/>
          </a:prstGeom>
          <a:solidFill>
            <a:srgbClr val="5A8FBF"/>
          </a:solidFill>
          <a:ln/>
        </p:spPr>
      </p:sp>
      <p:sp>
        <p:nvSpPr>
          <p:cNvPr id="18" name="Shape 15"/>
          <p:cNvSpPr/>
          <p:nvPr/>
        </p:nvSpPr>
        <p:spPr>
          <a:xfrm>
            <a:off x="9646920" y="2971800"/>
            <a:ext cx="201168" cy="201168"/>
          </a:xfrm>
          <a:prstGeom prst="ellipse">
            <a:avLst/>
          </a:prstGeom>
          <a:solidFill>
            <a:srgbClr val="5A8FBF"/>
          </a:solidFill>
          <a:ln/>
        </p:spPr>
      </p:sp>
      <p:sp>
        <p:nvSpPr>
          <p:cNvPr id="19" name="Shape 16"/>
          <p:cNvSpPr/>
          <p:nvPr/>
        </p:nvSpPr>
        <p:spPr>
          <a:xfrm>
            <a:off x="10149840" y="2560320"/>
            <a:ext cx="201168" cy="201168"/>
          </a:xfrm>
          <a:prstGeom prst="ellipse">
            <a:avLst/>
          </a:prstGeom>
          <a:solidFill>
            <a:srgbClr val="5A8FBF"/>
          </a:solidFill>
          <a:ln/>
        </p:spPr>
      </p:sp>
      <p:sp>
        <p:nvSpPr>
          <p:cNvPr id="20" name="Shape 17"/>
          <p:cNvSpPr/>
          <p:nvPr/>
        </p:nvSpPr>
        <p:spPr>
          <a:xfrm>
            <a:off x="9829800" y="2514600"/>
            <a:ext cx="201168" cy="201168"/>
          </a:xfrm>
          <a:prstGeom prst="ellipse">
            <a:avLst/>
          </a:prstGeom>
          <a:solidFill>
            <a:srgbClr val="5A8FBF"/>
          </a:solidFill>
          <a:ln/>
        </p:spPr>
      </p:sp>
      <p:sp>
        <p:nvSpPr>
          <p:cNvPr id="21" name="Shape 18"/>
          <p:cNvSpPr/>
          <p:nvPr/>
        </p:nvSpPr>
        <p:spPr>
          <a:xfrm>
            <a:off x="8869680" y="4846320"/>
            <a:ext cx="201168" cy="201168"/>
          </a:xfrm>
          <a:prstGeom prst="ellipse">
            <a:avLst/>
          </a:prstGeom>
          <a:solidFill>
            <a:srgbClr val="7CAE7A"/>
          </a:solidFill>
          <a:ln/>
        </p:spPr>
      </p:sp>
      <p:sp>
        <p:nvSpPr>
          <p:cNvPr id="22" name="Shape 19"/>
          <p:cNvSpPr/>
          <p:nvPr/>
        </p:nvSpPr>
        <p:spPr>
          <a:xfrm>
            <a:off x="9235440" y="4937760"/>
            <a:ext cx="201168" cy="201168"/>
          </a:xfrm>
          <a:prstGeom prst="ellipse">
            <a:avLst/>
          </a:prstGeom>
          <a:solidFill>
            <a:srgbClr val="7CAE7A"/>
          </a:solidFill>
          <a:ln/>
        </p:spPr>
      </p:sp>
      <p:sp>
        <p:nvSpPr>
          <p:cNvPr id="23" name="Shape 20"/>
          <p:cNvSpPr/>
          <p:nvPr/>
        </p:nvSpPr>
        <p:spPr>
          <a:xfrm>
            <a:off x="8595360" y="4663440"/>
            <a:ext cx="201168" cy="201168"/>
          </a:xfrm>
          <a:prstGeom prst="ellipse">
            <a:avLst/>
          </a:prstGeom>
          <a:solidFill>
            <a:srgbClr val="7CAE7A"/>
          </a:solidFill>
          <a:ln/>
        </p:spPr>
      </p:sp>
      <p:sp>
        <p:nvSpPr>
          <p:cNvPr id="24" name="Shape 21"/>
          <p:cNvSpPr/>
          <p:nvPr/>
        </p:nvSpPr>
        <p:spPr>
          <a:xfrm>
            <a:off x="8961120" y="5166360"/>
            <a:ext cx="201168" cy="201168"/>
          </a:xfrm>
          <a:prstGeom prst="ellipse">
            <a:avLst/>
          </a:prstGeom>
          <a:solidFill>
            <a:srgbClr val="7CAE7A"/>
          </a:solidFill>
          <a:ln/>
        </p:spPr>
      </p:sp>
      <p:sp>
        <p:nvSpPr>
          <p:cNvPr id="25" name="Shape 22"/>
          <p:cNvSpPr/>
          <p:nvPr/>
        </p:nvSpPr>
        <p:spPr>
          <a:xfrm>
            <a:off x="8549640" y="5029200"/>
            <a:ext cx="201168" cy="201168"/>
          </a:xfrm>
          <a:prstGeom prst="ellipse">
            <a:avLst/>
          </a:prstGeom>
          <a:solidFill>
            <a:srgbClr val="7CAE7A"/>
          </a:solidFill>
          <a:ln/>
        </p:spPr>
      </p:sp>
      <p:sp>
        <p:nvSpPr>
          <p:cNvPr id="26" name="Shape 23"/>
          <p:cNvSpPr/>
          <p:nvPr/>
        </p:nvSpPr>
        <p:spPr>
          <a:xfrm>
            <a:off x="9144000" y="4572000"/>
            <a:ext cx="201168" cy="201168"/>
          </a:xfrm>
          <a:prstGeom prst="ellipse">
            <a:avLst/>
          </a:prstGeom>
          <a:solidFill>
            <a:srgbClr val="7CAE7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858000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 A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692640" y="2240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6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 B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49640" y="5394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 C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CARA MESIN BELAJAR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#3 — Reinforcement: Belajar dari Coba-Coba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kunci jawaban dan tidak ada data awal — mesin (agen) langsung MENCOBA sendiri.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 yang bagus dapat “hadiah” (reward), aksi buruk dapat “hukuman”.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 seperti melatih anjing: duduk → dapat camilan; lama-lama ia paham sendiri.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Tantangan: hadiahnya sering datang telat — langkah ke-10 baru terasa akibatnya di langkah ke-100 (menang/kalah).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AlphaGo, robot belajar berjalan, mobil di game balap.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75120" y="192024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F7941E"/>
          </a:solidFill>
          <a:ln w="12700">
            <a:solidFill>
              <a:srgbClr val="F7941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0" y="19202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  (si pembelajar)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75120" y="457200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45720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LINGKUNGAN  (dunia/permainan)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086600" y="3063240"/>
            <a:ext cx="502920" cy="1417320"/>
          </a:xfrm>
          <a:prstGeom prst="downArrow">
            <a:avLst/>
          </a:prstGeom>
          <a:solidFill>
            <a:srgbClr val="CFCFCF"/>
          </a:solidFill>
          <a:ln/>
        </p:spPr>
      </p:sp>
      <p:sp>
        <p:nvSpPr>
          <p:cNvPr id="13" name="Shape 10"/>
          <p:cNvSpPr/>
          <p:nvPr/>
        </p:nvSpPr>
        <p:spPr>
          <a:xfrm>
            <a:off x="9966960" y="3063240"/>
            <a:ext cx="502920" cy="1417320"/>
          </a:xfrm>
          <a:prstGeom prst="upArrow">
            <a:avLst/>
          </a:prstGeom>
          <a:solidFill>
            <a:srgbClr val="F7941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5508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keadaan baru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hadiah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KULIAH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Jenis “Soal” yang Bisa Dikerjakan ML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11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kategori: spam / bukan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dibahas di P3–P5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53712" y="2011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tebak angka: harga, suhu, nilai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dibahas di P3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8101584" y="178308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30184" y="2011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kelompokkan yang mirip-mirip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dibahas di P6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48640" y="388620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1148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Reduksi dimensi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 data yang terlalu “gemuk”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dibahas di P6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4325112" y="388620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53712" y="41148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anomali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yang janggal: fraud kartu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dibahas di P6–P7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8101584" y="388620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30184" y="41148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baru: teks, gambar, musik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dibahas di P12, P15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kilat: </a:t>
            </a: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“menebak pelanggan yang mau berhenti langganan” itu jenis soal yang mana?  (jawab: ?)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INTI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 Proyek ML: dari Data Mentah sampai Dipakai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011680" cy="1097280"/>
          </a:xfrm>
          <a:prstGeom prst="chevron">
            <a:avLst/>
          </a:prstGeom>
          <a:solidFill>
            <a:srgbClr val="F0D9B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945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Kumpulkan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395728" y="2194560"/>
            <a:ext cx="2011680" cy="1097280"/>
          </a:xfrm>
          <a:prstGeom prst="chevron">
            <a:avLst/>
          </a:prstGeom>
          <a:solidFill>
            <a:srgbClr val="F0D9B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24328" y="21945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Bersihkan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42816" y="2194560"/>
            <a:ext cx="2011680" cy="1097280"/>
          </a:xfrm>
          <a:prstGeom prst="chevron">
            <a:avLst/>
          </a:prstGeom>
          <a:solidFill>
            <a:srgbClr val="F0D9B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71416" y="21945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Siapkan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89904" y="2194560"/>
            <a:ext cx="2011680" cy="1097280"/>
          </a:xfrm>
          <a:prstGeom prst="chevron">
            <a:avLst/>
          </a:prstGeom>
          <a:solidFill>
            <a:srgbClr val="F0D9B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18504" y="21945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36992" y="2194560"/>
            <a:ext cx="2011680" cy="1097280"/>
          </a:xfrm>
          <a:prstGeom prst="chevron">
            <a:avLst/>
          </a:prstGeom>
          <a:solidFill>
            <a:srgbClr val="F7941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65592" y="21945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/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784080" y="2194560"/>
            <a:ext cx="2011680" cy="1097280"/>
          </a:xfrm>
          <a:prstGeom prst="chevron">
            <a:avLst/>
          </a:prstGeom>
          <a:solidFill>
            <a:srgbClr val="3B3B3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012680" y="21945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Pakai di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dunia nyata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⟲ hasil evaluasi jelek? kembali perbaiki data / fitur — proses ini berputar, bukan sekali jalan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206240"/>
            <a:ext cx="5422392" cy="1554480"/>
          </a:xfrm>
          <a:prstGeom prst="roundRect">
            <a:avLst>
              <a:gd name="adj" fmla="val 529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60–80%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2834640" y="4434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praktisi ML habis di urusan DATA, bukan di pemodelan yang keren-keren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17920" y="4206240"/>
            <a:ext cx="5422392" cy="1554480"/>
          </a:xfrm>
          <a:prstGeom prst="roundRect">
            <a:avLst>
              <a:gd name="adj" fmla="val 529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3796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dari 6</a:t>
            </a:r>
            <a:endParaRPr lang="en-US" sz="3200" dirty="0"/>
          </a:p>
        </p:txBody>
      </p:sp>
      <p:sp>
        <p:nvSpPr>
          <p:cNvPr id="25" name="Text 22"/>
          <p:cNvSpPr txBox="1"/>
          <p:nvPr/>
        </p:nvSpPr>
        <p:spPr>
          <a:xfrm>
            <a:off x="8503920" y="4434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di atas yang berisi “melatih model” — sisanya pekerjaan di sekitarnya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INTI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Balik Layar: Model Itu Cuma “Mesin Tebak” Matematis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874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 =  f ( x ; θ )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06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tebakan        input        “kenop-kenop” yang bisa diputar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502152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input   </a:t>
            </a: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yang masuk: ukuran kelopak, isi email, foto wajah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29768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4370832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(theta) = parameter   </a:t>
            </a: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jutaan “kenop” di dalam model yang bisa disetel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516636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239512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“Belajar” artinya…   </a:t>
            </a: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memutar kenop-kenop θ sedikit demi sedikit sampai tebakan ŷ sedekat mungkin dengan jawaban asli (kesalahan / loss mengecil)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regresi sederhana sampai ChatGPT — semuanya variasi dari rumus di atas. Bedanya cuma jumlah kenopnya: 2 vs miliaran.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INTI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Ujian Sesungguhnya: Data yang Belum Pernah Dilihat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ML bukan MENGHAFAL contoh latihan, tapi bisa menjawab benar saat diberi data BARU. Ini namanya generalisasi.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3538728" cy="3291840"/>
          </a:xfrm>
          <a:prstGeom prst="roundRect">
            <a:avLst>
              <a:gd name="adj" fmla="val 25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" y="260604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Penghafal (overfitting)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Hafal semua soal latihan sampai titik komanya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latihan: 100.  Nilai ujian (soal baru): jeblok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terlalu rumit — ikut menghafal “noise”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325112" y="2377440"/>
            <a:ext cx="3538728" cy="3291840"/>
          </a:xfrm>
          <a:prstGeom prst="roundRect">
            <a:avLst>
              <a:gd name="adj" fmla="val 2500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81144" y="260604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8A5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Malas (underfitting)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Belajarnya terlalu dangkal, pola dasarnya saja tak tertangkap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latihan: jelek.  Nilai ujian: jelek juga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terlalu sederhana untuk masalahnya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8101584" y="2377440"/>
            <a:ext cx="3538728" cy="3291840"/>
          </a:xfrm>
          <a:prstGeom prst="roundRect">
            <a:avLst>
              <a:gd name="adj" fmla="val 2500"/>
            </a:avLst>
          </a:prstGeom>
          <a:solidFill>
            <a:srgbClr val="E8F3E9"/>
          </a:solidFill>
          <a:ln w="12700">
            <a:solidFill>
              <a:srgbClr val="E8F3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7616" y="260604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Paham Konsep (pas) ✓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Menangkap pola inti, tidak menghafal detail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latihan: bagus.  Nilai ujian: bagus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Inilah target kita di setiap proyek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Karena itu data selalu dibagi dua: TRAIN (buku latihan) dan TEST (soal ujian tersegel — tidak boleh diintip saat belajar).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KODENYA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#2 — Membuktikan Overfitting dengan 2 Angka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6949440" cy="3291840"/>
          </a:xfrm>
          <a:prstGeom prst="roundRect">
            <a:avLst>
              <a:gd name="adj" fmla="val 2500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74520"/>
            <a:ext cx="6492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X_te, y_tr, y_te = train_test_split(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test_size=0.3, random_state=42)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DecisionTreeClassifier()   # dibiarkan tumbuh bebas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model.fit(X_tr, y_tr)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C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print('Nilai latihan:', model.score(X_tr, y_tr))   # 1.00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C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print('Nilai ujian  :', model.score(X_te, y_te))   # 0.93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26680" y="1737360"/>
            <a:ext cx="3913632" cy="1508760"/>
          </a:xfrm>
          <a:prstGeom prst="roundRect">
            <a:avLst>
              <a:gd name="adj" fmla="val 5455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18745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latihan sempurna → justru patut CURIGA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7726680" y="3429000"/>
            <a:ext cx="3913632" cy="1508760"/>
          </a:xfrm>
          <a:prstGeom prst="roundRect">
            <a:avLst>
              <a:gd name="adj" fmla="val 5455"/>
            </a:avLst>
          </a:prstGeom>
          <a:solidFill>
            <a:srgbClr val="E8F3E9"/>
          </a:solidFill>
          <a:ln w="12700">
            <a:solidFill>
              <a:srgbClr val="E8F3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35661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ujian — inilah angka yang jujur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5376672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emas: </a:t>
            </a:r>
            <a:r>
              <a:rPr lang="en-US" sz="14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test tidak boleh disentuh selama proses belajar — sekali “bocor”, nilai ujiannya tidak bisa dipercaya lagi.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AI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Bias: Model Mewarisi Ketidakadilan dari Datanya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belajar dari data masa lalu. Kalau masa lalunya tidak adil, modelnya ikut tidak adil.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Kasus nyata: sistem penyaring CV sebuah perusahaan besar “menghukum” CV yang memuat kata “women's” — karena data lamanya didominasi pelamar pria.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bisa menyusup diam-diam lewat “variabel titipan” (proxy): kode pos bisa mewakili kelompok tertentu tanpa kita sadari.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“Algoritma itu netral” = MITOS. Netral harus dibuktikan, bukan diasumsikan.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49440" y="1783080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lama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(sudah bias)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75320" y="2606040"/>
            <a:ext cx="411480" cy="256032"/>
          </a:xfrm>
          <a:prstGeom prst="downArrow">
            <a:avLst/>
          </a:prstGeom>
          <a:solidFill>
            <a:srgbClr val="CFCFCF"/>
          </a:solidFill>
          <a:ln/>
        </p:spPr>
      </p:sp>
      <p:sp>
        <p:nvSpPr>
          <p:cNvPr id="11" name="Shape 8"/>
          <p:cNvSpPr/>
          <p:nvPr/>
        </p:nvSpPr>
        <p:spPr>
          <a:xfrm>
            <a:off x="6949440" y="2807208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280720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75320" y="3630168"/>
            <a:ext cx="411480" cy="256032"/>
          </a:xfrm>
          <a:prstGeom prst="downArrow">
            <a:avLst/>
          </a:prstGeom>
          <a:solidFill>
            <a:srgbClr val="CFCFCF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9440" y="3831336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383133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ikut bias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75320" y="4654296"/>
            <a:ext cx="411480" cy="256032"/>
          </a:xfrm>
          <a:prstGeom prst="downArrow">
            <a:avLst/>
          </a:prstGeom>
          <a:solidFill>
            <a:srgbClr val="CFCFCF"/>
          </a:solidFill>
          <a:ln/>
        </p:spPr>
      </p:sp>
      <p:sp>
        <p:nvSpPr>
          <p:cNvPr id="17" name="Shape 14"/>
          <p:cNvSpPr/>
          <p:nvPr/>
        </p:nvSpPr>
        <p:spPr>
          <a:xfrm>
            <a:off x="6949440" y="4855464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485546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baru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 bias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flipH="1">
            <a:off x="10287000" y="2148840"/>
            <a:ext cx="685800" cy="3566160"/>
          </a:xfrm>
          <a:prstGeom prst="bentUpArrow">
            <a:avLst/>
          </a:prstGeom>
          <a:solidFill>
            <a:srgbClr val="E5B7B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195560" y="5806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berputar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 parah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AI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Lainnya: Privasi, Transparansi, Tanggung Jawab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02996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941E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19456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20240" y="1975104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Privasi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bisa tak sengaja “membocorkan” data latihannya. Bahaya kalau datanya rekam medis atau data keuangan.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15468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68680" y="335584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941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52044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920240" y="3300984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Transparansi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Banyak model = kotak hitam. Kalau pengajuan pinjamanmu ditolak AI, kamu berhak tahu alasannya.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448056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68680" y="468172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941E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84632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920240" y="4626864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Tanggung jawab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tanpa sopir menabrak, atau AI salah menolak beasiswa — siapa yang harus bertanggung jawab? Pembuatnya? Pemakainya?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68680" y="5888736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Dilema nyata: model yang paling akurat sering kali justru yang paling sulit dijelaskan.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AI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Mainnya Sudah Mulai Ditulis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166360" y="1783080"/>
            <a:ext cx="2743200" cy="804672"/>
          </a:xfrm>
          <a:prstGeom prst="roundRect">
            <a:avLst>
              <a:gd name="adj" fmla="val 6818"/>
            </a:avLst>
          </a:prstGeom>
          <a:solidFill>
            <a:srgbClr val="B3261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49240" y="18562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Dilarang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mis. “skor sosial” warga oleh negara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271576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D9770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17720" y="2788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tinggi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rekrutmen, kredit, kesehatan — wajib audit ketat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03320" y="3648456"/>
            <a:ext cx="5669280" cy="804672"/>
          </a:xfrm>
          <a:prstGeom prst="roundRect">
            <a:avLst>
              <a:gd name="adj" fmla="val 6818"/>
            </a:avLst>
          </a:prstGeom>
          <a:solidFill>
            <a:srgbClr val="E9A1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886200" y="372160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terbatas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chatbot — wajib jujur “aku ini AI”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971800" y="4581144"/>
            <a:ext cx="7132320" cy="804672"/>
          </a:xfrm>
          <a:prstGeom prst="roundRect">
            <a:avLst>
              <a:gd name="adj" fmla="val 6818"/>
            </a:avLst>
          </a:prstGeom>
          <a:solidFill>
            <a:srgbClr val="F0C78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54680" y="465429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minimal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filter spam, rekomendasi lagu — bebas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557784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Piramida risiko EU AI Act (mulai berlaku bertahap sejak 2024)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94360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980176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Indonesia: </a:t>
            </a: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 PDP No. 27/2022 (perlindungan data pribadi) + panduan etika AI Kominfo (2023). Etika = keputusan desain sejak awal, bukan tempelan di akhir.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COMPAS: Saat AI Ikut Menentukan Nasib di Pengadilan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5760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COMPAS: software di pengadilan AS yang memberi “skor risiko” — seberapa mungkin terdakwa mengulangi kejahatan.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Investigasi jurnalis ProPublica (2016): terdakwa kulit hitam yang sebenarnya TIDAK mengulangi kejahatan, hampir 2× lebih sering salah dicap “berisiko tinggi”.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Pembelaan pembuatnya: “skor kami akurasinya setara untuk semua ras.”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Ternyata keduanya benar sekaligus: dua definisi “adil” itu terbukti MUSTAHIL dipenuhi bersamaan.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Pelajaran: memilih definisi “adil” adalah keputusan etis, bukan cuma soal teknis.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583680" y="1828800"/>
          <a:ext cx="49377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583680" y="5715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analisis ProPublica, 2016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 BERSAMA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Mini Hari Ini: Menebak Spesies Bunga Iris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760720" cy="822960"/>
          </a:xfrm>
          <a:prstGeom prst="roundRect">
            <a:avLst>
              <a:gd name="adj" fmla="val 10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56232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Tugasnya   </a:t>
            </a: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menebak spesies bunga (3 pilihan) dari 4 ukuran kelopaknya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5760720" cy="8229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816352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— Pengalamannya   </a:t>
            </a: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bunga yang sudah diukur &amp; diberi label ahli botani (data klasik sejak 1936)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03320"/>
            <a:ext cx="5760720" cy="8229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776472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— Penilaiannya   </a:t>
            </a: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akurasi pada 30% data yang disembunyikan sebagai “soal ujian”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800600"/>
            <a:ext cx="5760720" cy="1371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98348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 tempur (semua gratis):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— coding di browser, tanpa instal apa pun · scikit-learn — “toolbox” ML siap pakai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920240"/>
          <a:ext cx="4983480" cy="2423160"/>
        </p:xfrm>
        <a:graphic>
          <a:graphicData uri="http://schemas.openxmlformats.org/drawingml/2006/table">
            <a:tbl>
              <a:tblPr/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panjang sepal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lebar sepal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panjang petal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lebar petal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spesies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740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740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740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 ← tugas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6583680" y="45262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angka masuk → 1 nama spesies keluar. Sesederhana itu kelihatannya — tapi polanya ditemukan mesin, bukan kita.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 BERSAMA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Lengkapnya — Ketik Bareng di Colab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6766560" cy="3977640"/>
          </a:xfrm>
          <a:prstGeom prst="roundRect">
            <a:avLst>
              <a:gd name="adj" fmla="val 2069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74520"/>
            <a:ext cx="63093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load_iris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= load_iris(as_frame=True)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iris.data, iris.target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X_te, y_tr, y_te = train_test_split(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test_size=0.3, random_state=42, stratify=y)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LogisticRegression(max_iter=1000).fit(X_tr, y_tr)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C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print(classification_report(y_te, model.predict(X_te),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C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target_names=iris.target_names))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43800" y="1737360"/>
            <a:ext cx="4096512" cy="868680"/>
          </a:xfrm>
          <a:prstGeom prst="roundRect">
            <a:avLst>
              <a:gd name="adj" fmla="val 947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1947672"/>
            <a:ext cx="457200" cy="45720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1828800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Ambil data 150 bunga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43800" y="2761488"/>
            <a:ext cx="4096512" cy="868680"/>
          </a:xfrm>
          <a:prstGeom prst="roundRect">
            <a:avLst>
              <a:gd name="adj" fmla="val 947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0" y="2971800"/>
            <a:ext cx="457200" cy="45720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2852928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Sisihkan 30% jadi “soal ujian”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543800" y="3785616"/>
            <a:ext cx="4096512" cy="868680"/>
          </a:xfrm>
          <a:prstGeom prst="roundRect">
            <a:avLst>
              <a:gd name="adj" fmla="val 947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3995928"/>
            <a:ext cx="457200" cy="45720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3877056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 model dari 70% sisanya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543800" y="4809744"/>
            <a:ext cx="4096512" cy="868680"/>
          </a:xfrm>
          <a:prstGeom prst="roundRect">
            <a:avLst>
              <a:gd name="adj" fmla="val 947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0" y="5020056"/>
            <a:ext cx="457200" cy="45720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4901184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Cetak rapor: akurasi per spesies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di kelas: akurasi ± 97% — dari 45 soal ujian, hanya 1–2 yang salah tebak.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 BERSAMA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Tapi Hati-Hati: Model Tidak Tahu Bahwa Ia Tidak Tahu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6583680" cy="1691640"/>
          </a:xfrm>
          <a:prstGeom prst="roundRect">
            <a:avLst>
              <a:gd name="adj" fmla="val 4865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beri input ngawur: bunga raksasa 9.9 cm semua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model.predict([[9.9, 9.9, 9.9, 9.9]])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C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array([2])   # "virginica!" — tetap pede menjawab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4904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Akurasi 97% BUKAN berarti selesai — model hanya paham dunia yang mirip data latihannya.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Diberi data mustahil pun, ia tetap menjawab yakin — tidak bisa bilang “aku tidak tahu” atau “ini bukan iris”.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begini saja bisa keliru, bayangkan model yang menyetujui pinjaman atau membaca hasil rontgen.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52360" y="1783080"/>
            <a:ext cx="4187952" cy="4114800"/>
          </a:xfrm>
          <a:prstGeom prst="roundRect">
            <a:avLst>
              <a:gd name="adj" fmla="val 2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856" y="2148840"/>
            <a:ext cx="822960" cy="8229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3154680"/>
            <a:ext cx="36393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Sikap seorang ML engineer:</a:t>
            </a:r>
            <a:endParaRPr lang="en-US" sz="14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“Tugasku bukan hanya membuat model yang pintar, tapi juga tahu KAPAN model itu tidak boleh dipercaya.”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PERKAKAS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Senjata Kita Selama 16 Pertemuan (Semuanya Gratis)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2084832" cy="2651760"/>
          </a:xfrm>
          <a:prstGeom prst="roundRect">
            <a:avLst>
              <a:gd name="adj" fmla="val 39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33856" y="21945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941E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32918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6576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utama kuliah ini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816352" y="1920240"/>
            <a:ext cx="2084832" cy="2651760"/>
          </a:xfrm>
          <a:prstGeom prst="roundRect">
            <a:avLst>
              <a:gd name="adj" fmla="val 39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01568" y="21945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941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07792" y="32918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2953512" y="36576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ML di browser, gratis GPU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084064" y="1920240"/>
            <a:ext cx="2084832" cy="2651760"/>
          </a:xfrm>
          <a:prstGeom prst="roundRect">
            <a:avLst>
              <a:gd name="adj" fmla="val 39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669280" y="21945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941E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75504" y="32918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221224" y="36576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toolbox ML klasik (P3–P7)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351776" y="1920240"/>
            <a:ext cx="2084832" cy="2651760"/>
          </a:xfrm>
          <a:prstGeom prst="roundRect">
            <a:avLst>
              <a:gd name="adj" fmla="val 39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936992" y="21945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941E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43216" y="32918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488936" y="36576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 mengumpulkan semua tugas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9619488" y="1920240"/>
            <a:ext cx="2084832" cy="2651760"/>
          </a:xfrm>
          <a:prstGeom prst="roundRect">
            <a:avLst>
              <a:gd name="adj" fmla="val 39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0204704" y="21945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941E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016" y="2404872"/>
            <a:ext cx="493776" cy="49377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710928" y="32918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9756648" y="36576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gudang dataset + lomba ML dunia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548640" y="493776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administratif minggu ini: </a:t>
            </a:r>
            <a:r>
              <a:rPr lang="en-US" sz="14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akun Google (untuk Colab), GitHub, dan Kaggle. Tugas A &amp; B dikumpulkan lewat GitHub mulai minggu ini.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201168"/>
            <a:ext cx="613812" cy="804672"/>
          </a:xfrm>
          <a:prstGeom prst="roundRect">
            <a:avLst>
              <a:gd name="adj" fmla="val 10428"/>
            </a:avLst>
          </a:prstGeom>
          <a:solidFill>
            <a:srgbClr val="FFFFFF"/>
          </a:solidFill>
          <a:ln/>
        </p:spPr>
      </p:sp>
      <p:pic>
        <p:nvPicPr>
          <p:cNvPr id="3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1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Hal yang Wajib Kamu Bawa Pulang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422392" cy="1783080"/>
          </a:xfrm>
          <a:prstGeom prst="roundRect">
            <a:avLst>
              <a:gd name="adj" fmla="val 4615"/>
            </a:avLst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208483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⊃ ML ⊃ DL</a:t>
            </a:r>
            <a:endParaRPr lang="en-US" sz="15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= mesin yang nilainya (P) membaik dari pengalaman (E) pada suatu tugas (T).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5422392" cy="1783080"/>
          </a:xfrm>
          <a:prstGeom prst="roundRect">
            <a:avLst>
              <a:gd name="adj" fmla="val 4615"/>
            </a:avLst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208483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cara belajar</a:t>
            </a:r>
            <a:endParaRPr lang="en-US" sz="15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(pakai kunci jawaban), unsupervised (cari pola sendiri), reinforcement (coba-coba + hadiah).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5422392" cy="1783080"/>
          </a:xfrm>
          <a:prstGeom prst="roundRect">
            <a:avLst>
              <a:gd name="adj" fmla="val 4615"/>
            </a:avLst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405079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Ujian sejati = data baru</a:t>
            </a:r>
            <a:endParaRPr lang="en-US" sz="15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fungsi berparameter f(x; θ); menghafal data latihan itu gagal terselubung (overfitting).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217920" y="3794760"/>
            <a:ext cx="5422392" cy="1783080"/>
          </a:xfrm>
          <a:prstGeom prst="roundRect">
            <a:avLst>
              <a:gd name="adj" fmla="val 4615"/>
            </a:avLst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4069080"/>
            <a:ext cx="640080" cy="64008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922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0" y="405079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sejak hari pertama</a:t>
            </a:r>
            <a:endParaRPr lang="en-US" sz="15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Bias, privasi, dan tanggung jawab adalah keputusan desain — bukan tempelan di akhir proyek.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depan — Pertemuan 2: matematika di balik “belajar” (aljabar linear, kalkulus, probabilitas). Kita lihat kenapa TURUNAN adalah mesin di balik kata “belajar”.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MANDIRI · DIKUMPULKAN SEBELUM PERTEMUAN 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A — Notebook Pertamamu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858000" cy="41148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2024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dikerjakan: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Tiru ulang pipeline Iris hari ini di Google Colab (boleh sambil lihat materi).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Ulangi pada 1 dataset lain: Wine ATAU Breast Cancer (keduanya ada di sklearn).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Wajib ada: 5 visualisasi data, train/test split, model, classification report.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Tulis T / E / P dataset pilihanmu di sel Markdown, dengan kalimatmu sendiri.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dikumpulkan:  </a:t>
            </a: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nim_nama_tugas1a.ipynb  di repo GitHub pribadimu (harus bisa “Run all” tanpa error).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680960" y="1691640"/>
            <a:ext cx="3959352" cy="2880360"/>
          </a:xfrm>
          <a:prstGeom prst="roundRect">
            <a:avLst>
              <a:gd name="adj" fmla="val 2857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1920240"/>
            <a:ext cx="3429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Dinilai dari: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Teknis benar (40%) — jalan tanpa error, split sebelum latih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Analisis (35%) — T/E/P tepat, grafik relevan, baca metrik benar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Rapi (25%) — struktur jelas, kode berkomentar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680960" y="4754880"/>
            <a:ext cx="3959352" cy="1051560"/>
          </a:xfrm>
          <a:prstGeom prst="roundRect">
            <a:avLst>
              <a:gd name="adj" fmla="val 7826"/>
            </a:avLst>
          </a:prstGeom>
          <a:solidFill>
            <a:srgbClr val="3B3B3B"/>
          </a:solidFill>
          <a:ln w="12700">
            <a:solidFill>
              <a:srgbClr val="3B3B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490118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± 3 jam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santai, ini latihan meniru + memodifikasi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MANDIRI · DIKUMPULKAN SEBELUM PERTEMUAN 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B — Jadi “Detektif Bias” Data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858000" cy="41148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2024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dikerjakan: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Buka dataset Adult Income (UCI) — data sensus berisi gaji, pekerjaan, gender, dll.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Dengan pandas, hitung: berapa % orang bergaji &gt;50K per gender dan per ras?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Buat minimal 3 grafik yang menunjukkan ketimpangannya.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Laporan 2 halaman: apa risikonya kalau data ini dipakai melatih AI penyetuju kredit? Usulkan cara menguranginya. Setiap klaim harus didukung angka!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dikumpulkan:  </a:t>
            </a: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nim_nama_tugas1b.ipynb  +  laporan PDF 2 halaman, di repo GitHub yang sama.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680960" y="1691640"/>
            <a:ext cx="3959352" cy="2880360"/>
          </a:xfrm>
          <a:prstGeom prst="roundRect">
            <a:avLst>
              <a:gd name="adj" fmla="val 2857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1920240"/>
            <a:ext cx="3429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Dinilai dari: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Hitungan benar (35%) — proporsi per kelompok, bukan angka mentah</a:t>
            </a:r>
            <a:endParaRPr lang="en-US" sz="135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Analisis risiko tajam (40%) — nyambung ke konsep bias &amp; proxy dari kelas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Komunikasi (25%) — grafik berjudul, laporan padat 2 halaman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680960" y="4754880"/>
            <a:ext cx="3959352" cy="1051560"/>
          </a:xfrm>
          <a:prstGeom prst="roundRect">
            <a:avLst>
              <a:gd name="adj" fmla="val 7826"/>
            </a:avLst>
          </a:prstGeom>
          <a:solidFill>
            <a:srgbClr val="3B3B3B"/>
          </a:solidFill>
          <a:ln w="12700">
            <a:solidFill>
              <a:srgbClr val="3B3B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490118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± 3 jam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kamu = versi mini jurnalis ProPublica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DI KELAS · 15 MENIT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Sendiri Sekarang di Google Colab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029200" cy="868680"/>
          </a:xfrm>
          <a:prstGeom prst="roundRect">
            <a:avLst>
              <a:gd name="adj" fmla="val 947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87452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 colab.research.google.com  → login dengan akun Google-mu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807208"/>
            <a:ext cx="5029200" cy="868680"/>
          </a:xfrm>
          <a:prstGeom prst="roundRect">
            <a:avLst>
              <a:gd name="adj" fmla="val 947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017520"/>
            <a:ext cx="457200" cy="45720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89864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 “+ New notebook”  — tidak perlu instal apa pun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831336"/>
            <a:ext cx="5029200" cy="868680"/>
          </a:xfrm>
          <a:prstGeom prst="roundRect">
            <a:avLst>
              <a:gd name="adj" fmla="val 947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041648"/>
            <a:ext cx="457200" cy="45720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922776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 ulang kode di kanan ke dalam sel, lalu tekan  Shift + Enter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855464"/>
            <a:ext cx="5029200" cy="868680"/>
          </a:xfrm>
          <a:prstGeom prst="roundRect">
            <a:avLst>
              <a:gd name="adj" fmla="val 947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5065776"/>
            <a:ext cx="457200" cy="457200"/>
          </a:xfrm>
          <a:prstGeom prst="ellipse">
            <a:avLst/>
          </a:prstGeom>
          <a:solidFill>
            <a:srgbClr val="F7941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946904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Baca hasilnya: berapa akurasimu? Bandingkan dengan temanmu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806440" y="1783080"/>
            <a:ext cx="5833872" cy="3794760"/>
          </a:xfrm>
          <a:prstGeom prst="roundRect">
            <a:avLst>
              <a:gd name="adj" fmla="val 2169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35040" y="1920240"/>
            <a:ext cx="537667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F8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LATIHAN 1 - jalankan, lalu amati hasilnya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load_wine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load_wine(return_X_y=True)   # 178 botol wine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X_te, y_tr, y_te = train_test_split(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test_size=0.3, random_state=42)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KNeighborsClassifier(n_neighbors=3)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model.fit(X_tr, y_tr)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CD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print('Akurasi:', model.score(X_te, y_te))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806440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orang berhasil mencetak angka akurasi sebelum jeda — angkat tangan kalau macet, kita bantu bareng.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DI KELAS · LANJUTAN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Sudah Jalan? Naik Level!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538728" cy="3383280"/>
          </a:xfrm>
          <a:prstGeom prst="roundRect">
            <a:avLst>
              <a:gd name="adj" fmla="val 2432"/>
            </a:avLst>
          </a:prstGeom>
          <a:solidFill>
            <a:srgbClr val="E8F3E9"/>
          </a:solidFill>
          <a:ln w="12700">
            <a:solidFill>
              <a:srgbClr val="E8F3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" y="20116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— Pemanasan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Ubah test_size menjadi 0.5, lalu 0.1.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terjadi pada akurasi? Kenapa porsi “soal ujian” memengaruhi hasil?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538728" cy="3383280"/>
          </a:xfrm>
          <a:prstGeom prst="roundRect">
            <a:avLst>
              <a:gd name="adj" fmla="val 2432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81144" y="20116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8A5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— Eksperimen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n_neighbors: coba 1, 3, 15, 50.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 akurasinya di tabel kecil. Mana yang terbaik? (jawabannya TIDAK selalu yang terkecil)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101584" y="1783080"/>
            <a:ext cx="3538728" cy="3383280"/>
          </a:xfrm>
          <a:prstGeom prst="roundRect">
            <a:avLst>
              <a:gd name="adj" fmla="val 2432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57616" y="20116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— Menantang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dataset → load_breast_cancer, model → DecisionTreeClassifier.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Cetak nilai train DAN test. Apakah modelmu overfitting? Buktikan dengan dua angka itu.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5504688"/>
            <a:ext cx="10424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Bingung parameternya? </a:t>
            </a: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jawaban ada di dokumentasi resmi:  scikit-learn.org/stable/user_guide.html  — membiasakan baca dokumentasi adalah skill wajib ML engineer.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BAHAN EKSPERIMEN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Gudang Dataset Gratis untuk Dicoba-coba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79222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Bawaan scikit-learn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7922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iris, wine, breast_cancer, digits — langsung import, tanpa download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17922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4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load_*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487168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54203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ML Repository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5420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gudang dataset akademik klasik; Adult Income (untuk Tugas B) ada di sini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254203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4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archive.ics.uci.edu  ·  archive.ics.uci.edu/dataset/2/adult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3236976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2918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Datasets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329184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ribuan dataset + kompetisi; mulai dari yang legendaris: Titanic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329184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4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kaggle.com/datasets  ·  kaggle.com/c/titanic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3986784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04164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Datasets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404164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teks/gambar/audio modern untuk eksperimen lanjutan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404164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4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huggingface.co/datasets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8640" y="4736592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79145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Dataset Search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479145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pencari khusus dataset dari seluruh web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479145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4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datasetsearch.research.google.com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54126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Indonesia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3566160" y="554126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resmi pemerintah &amp; statistik nasional — bagus untuk proyek akhir bertema lokal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55412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4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data.go.id  ·  bps.go.id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main memakai dataset: cek lisensinya, sebutkan sumbernya di notebook-mu, dan jangan pakai data pribadi orang tanpa izin.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Utama — Buku Teks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74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874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Russell, S., &amp; Norvig, P. (2021). Artificial Intelligence: A Modern Approach (4th ed.). Pearson.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 (definisi &amp; sejarah AI) · Bab 27 (filsafat, etika &amp; keselamatan AI) — rujukan utama materi definisi dan etika hari ini.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9718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71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Goodfellow, I., Bengio, Y., &amp; Courville, A. (2016). Deep Learning. MIT Press.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 (sejarah gelombang neural network, hierarki AI-ML-DL) · Bab 5.1–5.2 (definisi belajar T/E/P, generalisasi). Gratis &amp; legal:  deeplearningbook.org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977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690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40690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Bishop, C. M. (2006). Pattern Recognition and Machine Learning. Springer.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1.1–1.3 (taksonomi supervised/unsupervised, model selection, generalisasi). PDF resmi gratis di situs Microsoft Research.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166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51663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Géron, A. (2022). Hands-On Machine Learning with Scikit-Learn, Keras &amp; TensorFlow (3rd ed.). O'Reilly.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 (lanskap ML dengan kode) · Bab 2 (proyek ML end-to-end) — rujukan utama sisi praktik &amp; latihan Colab.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6053328"/>
            <a:ext cx="11091672" cy="384048"/>
          </a:xfrm>
          <a:prstGeom prst="roundRect">
            <a:avLst>
              <a:gd name="adj" fmla="val 21429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60807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 ada perbedaan antarbuku: ikuti Goodfellow untuk deep learning, Russell-Norvig untuk AI umum.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274320"/>
            <a:ext cx="43093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 · Pertemuan 1 · Institut Pariwisata Trisakti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9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Pendukung — Paper, Kasus &amp; Regulasi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922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792224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Mitchell, T. M. (1997). Machine Learning. McGraw-Hill.  </a:t>
            </a: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Sumber asli definisi belajar T/E/P yang kita pakai di slide 9.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487168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54203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542032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LeCun, Y., Bengio, Y., &amp; Hinton, G. (2015). Deep learning. Nature, 521(7553), 436–444.  </a:t>
            </a: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Survei era deep learning oleh tiga pionirnya — pendamping materi sejarah (slide 6–7).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236976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29184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291840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Angwin, J., Larson, J., Mattu, S., &amp; Kirchner, L. (2016). Machine bias. ProPublica.  </a:t>
            </a: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Investigasi kasus COMPAS yang kita bahas di studi kasus (slide 22).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986784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04164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041648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Kleinberg, J., Mullainathan, S., &amp; Raghavan, M. (2016). Inherent trade-offs in the fair determination of risk scores. arXiv:1609.05807.  </a:t>
            </a: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Bukti matematis bahwa dua definisi “adil” pada kasus COMPAS mustahil dipenuhi bersamaan.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736592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79145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791456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Undang-Undang RI No. 27 Tahun 2022 tentang Pelindungan Data Pribadi.  </a:t>
            </a: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Landasan hukum privasi data di Indonesia (slide 20–21).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55412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5541264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(EU) 2024/1689 (EU Artificial Intelligence Act).  </a:t>
            </a: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Sumber piramida klasifikasi risiko AI (slide 21).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sitasi: APA 7  ·  Semua materi kuliah ini disusun dari sumber [1]–[10] di atas.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5997</Words>
  <Application>Microsoft Office PowerPoint</Application>
  <PresentationFormat>Widescreen</PresentationFormat>
  <Paragraphs>633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JUAN AL QAUSAR</cp:lastModifiedBy>
  <cp:revision>2</cp:revision>
  <dcterms:created xsi:type="dcterms:W3CDTF">2026-08-31T08:34:41Z</dcterms:created>
  <dcterms:modified xsi:type="dcterms:W3CDTF">2026-08-31T13:36:28Z</dcterms:modified>
</cp:coreProperties>
</file>